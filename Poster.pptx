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0275213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6AC"/>
    <a:srgbClr val="C6DA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710"/>
  </p:normalViewPr>
  <p:slideViewPr>
    <p:cSldViewPr snapToGrid="0">
      <p:cViewPr varScale="1">
        <p:scale>
          <a:sx n="39" d="100"/>
          <a:sy n="39" d="100"/>
        </p:scale>
        <p:origin x="1507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7904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9359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>
                    <a:tint val="82000"/>
                  </a:schemeClr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82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4752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0160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026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3719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7245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657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9211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590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228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8B8339-4FF2-4F94-A1EB-9E8F959F09EC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542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1AC732-D44F-24EF-BDB0-A099D4F52527}"/>
              </a:ext>
            </a:extLst>
          </p:cNvPr>
          <p:cNvSpPr txBox="1"/>
          <p:nvPr/>
        </p:nvSpPr>
        <p:spPr>
          <a:xfrm>
            <a:off x="384705" y="5062702"/>
            <a:ext cx="9579858" cy="507831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tint val="66000"/>
                  <a:satMod val="160000"/>
                </a:schemeClr>
              </a:gs>
              <a:gs pos="50000">
                <a:schemeClr val="bg1">
                  <a:lumMod val="65000"/>
                  <a:tint val="44500"/>
                  <a:satMod val="160000"/>
                </a:schemeClr>
              </a:gs>
              <a:gs pos="100000">
                <a:schemeClr val="bg1">
                  <a:lumMod val="65000"/>
                  <a:tint val="23500"/>
                  <a:satMod val="16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Children are facing increased online threats as they access the internet at younger ages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Existing solutions block access without teaching browsing behaviour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Behavioural conditioning effectively influences behaviour</a:t>
            </a:r>
          </a:p>
          <a:p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E0434-CEDB-3B4A-8A5D-1223E9884CFB}"/>
              </a:ext>
            </a:extLst>
          </p:cNvPr>
          <p:cNvSpPr txBox="1"/>
          <p:nvPr/>
        </p:nvSpPr>
        <p:spPr>
          <a:xfrm>
            <a:off x="1922757" y="252977"/>
            <a:ext cx="18930301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b="1" u="sng" dirty="0">
                <a:latin typeface="Arial" panose="020B0604020202020204" pitchFamily="34" charset="0"/>
                <a:cs typeface="Arial" panose="020B0604020202020204" pitchFamily="34" charset="0"/>
              </a:rPr>
              <a:t>STRONGHOLD</a:t>
            </a:r>
            <a:endParaRPr lang="en-US" sz="115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3200" b="1" i="1" dirty="0">
                <a:latin typeface="Arial" panose="020B0604020202020204" pitchFamily="34" charset="0"/>
                <a:cs typeface="Arial" panose="020B0604020202020204" pitchFamily="34" charset="0"/>
              </a:rPr>
              <a:t>By Mark Hardy</a:t>
            </a:r>
            <a:endParaRPr lang="en-US" sz="88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F774C-E6E4-FABD-CE7E-198541257231}"/>
              </a:ext>
            </a:extLst>
          </p:cNvPr>
          <p:cNvSpPr txBox="1"/>
          <p:nvPr/>
        </p:nvSpPr>
        <p:spPr>
          <a:xfrm>
            <a:off x="936461" y="11400305"/>
            <a:ext cx="9579857" cy="5755422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tint val="66000"/>
                  <a:satMod val="160000"/>
                </a:schemeClr>
              </a:gs>
              <a:gs pos="50000">
                <a:schemeClr val="bg1">
                  <a:lumMod val="65000"/>
                  <a:tint val="44500"/>
                  <a:satMod val="160000"/>
                </a:schemeClr>
              </a:gs>
              <a:gs pos="100000">
                <a:schemeClr val="bg1">
                  <a:lumMod val="65000"/>
                  <a:tint val="23500"/>
                  <a:satMod val="160000"/>
                </a:schemeClr>
              </a:gs>
            </a:gsLst>
            <a:lin ang="16200000" scaled="1"/>
            <a:tileRect/>
          </a:gra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Security-focussed web browser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 children safe browsing behaviours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Uses behavioural conditioning and gamification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Blocks access to malicious content while educating why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Built using Electron (JavaScript framework)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Uses Firebase for the backend database</a:t>
            </a: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C5081-44E4-DE23-E173-D0A8E239F4E0}"/>
              </a:ext>
            </a:extLst>
          </p:cNvPr>
          <p:cNvSpPr txBox="1"/>
          <p:nvPr/>
        </p:nvSpPr>
        <p:spPr>
          <a:xfrm>
            <a:off x="22329010" y="1800433"/>
            <a:ext cx="7358432" cy="178202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tint val="66000"/>
                  <a:satMod val="160000"/>
                </a:schemeClr>
              </a:gs>
              <a:gs pos="50000">
                <a:schemeClr val="bg1">
                  <a:lumMod val="65000"/>
                  <a:tint val="44500"/>
                  <a:satMod val="160000"/>
                </a:schemeClr>
              </a:gs>
              <a:gs pos="100000">
                <a:schemeClr val="bg1">
                  <a:lumMod val="65000"/>
                  <a:tint val="23500"/>
                  <a:satMod val="160000"/>
                </a:schemeClr>
              </a:gs>
            </a:gsLst>
            <a:lin ang="16200000" scaled="1"/>
            <a:tileRect/>
          </a:gra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EEE6AA-99A6-1339-F05E-CE0DC41008C5}"/>
              </a:ext>
            </a:extLst>
          </p:cNvPr>
          <p:cNvSpPr txBox="1"/>
          <p:nvPr/>
        </p:nvSpPr>
        <p:spPr>
          <a:xfrm>
            <a:off x="22772727" y="9656934"/>
            <a:ext cx="6519891" cy="76944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  <a:endParaRPr lang="en-US" sz="5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13F2C1-A8AC-89FD-2E89-6699EA72FE41}"/>
              </a:ext>
            </a:extLst>
          </p:cNvPr>
          <p:cNvSpPr txBox="1"/>
          <p:nvPr/>
        </p:nvSpPr>
        <p:spPr>
          <a:xfrm>
            <a:off x="384705" y="4243398"/>
            <a:ext cx="9579858" cy="923330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25000"/>
                  <a:lumOff val="75000"/>
                  <a:tint val="66000"/>
                  <a:satMod val="160000"/>
                </a:schemeClr>
              </a:gs>
              <a:gs pos="50000">
                <a:schemeClr val="tx2">
                  <a:lumMod val="25000"/>
                  <a:lumOff val="75000"/>
                  <a:tint val="44500"/>
                  <a:satMod val="160000"/>
                </a:schemeClr>
              </a:gs>
              <a:gs pos="100000">
                <a:schemeClr val="tx2">
                  <a:lumMod val="25000"/>
                  <a:lumOff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Why Stronghold?</a:t>
            </a:r>
            <a:endParaRPr lang="en-US" sz="6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246ED9-7C98-6341-BB7A-9B2873295576}"/>
              </a:ext>
            </a:extLst>
          </p:cNvPr>
          <p:cNvSpPr txBox="1"/>
          <p:nvPr/>
        </p:nvSpPr>
        <p:spPr>
          <a:xfrm>
            <a:off x="936460" y="10498654"/>
            <a:ext cx="9579858" cy="923330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25000"/>
                  <a:lumOff val="75000"/>
                  <a:tint val="66000"/>
                  <a:satMod val="160000"/>
                </a:schemeClr>
              </a:gs>
              <a:gs pos="50000">
                <a:schemeClr val="tx2">
                  <a:lumMod val="25000"/>
                  <a:lumOff val="75000"/>
                  <a:tint val="44500"/>
                  <a:satMod val="160000"/>
                </a:schemeClr>
              </a:gs>
              <a:gs pos="100000">
                <a:schemeClr val="tx2">
                  <a:lumMod val="25000"/>
                  <a:lumOff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What is Stronghold?</a:t>
            </a:r>
            <a:endParaRPr lang="en-US" sz="6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0956BA-0F9C-4680-F0AD-E1CC26347EA4}"/>
              </a:ext>
            </a:extLst>
          </p:cNvPr>
          <p:cNvSpPr txBox="1"/>
          <p:nvPr/>
        </p:nvSpPr>
        <p:spPr>
          <a:xfrm>
            <a:off x="22329236" y="877103"/>
            <a:ext cx="7358432" cy="923330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25000"/>
                  <a:lumOff val="75000"/>
                  <a:tint val="66000"/>
                  <a:satMod val="160000"/>
                </a:schemeClr>
              </a:gs>
              <a:gs pos="50000">
                <a:schemeClr val="tx2">
                  <a:lumMod val="25000"/>
                  <a:lumOff val="75000"/>
                  <a:tint val="44500"/>
                  <a:satMod val="160000"/>
                </a:schemeClr>
              </a:gs>
              <a:gs pos="100000">
                <a:schemeClr val="tx2">
                  <a:lumMod val="25000"/>
                  <a:lumOff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Key Features</a:t>
            </a:r>
            <a:endParaRPr lang="en-US" sz="6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7C4476-B449-88E8-708A-990537144516}"/>
              </a:ext>
            </a:extLst>
          </p:cNvPr>
          <p:cNvSpPr txBox="1"/>
          <p:nvPr/>
        </p:nvSpPr>
        <p:spPr>
          <a:xfrm>
            <a:off x="22772727" y="13565360"/>
            <a:ext cx="6519891" cy="76944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Gamification</a:t>
            </a:r>
            <a:endParaRPr lang="en-US" sz="5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B7C77A-2C1E-DBF9-343E-3442F2F4C530}"/>
              </a:ext>
            </a:extLst>
          </p:cNvPr>
          <p:cNvSpPr/>
          <p:nvPr/>
        </p:nvSpPr>
        <p:spPr>
          <a:xfrm>
            <a:off x="4519652" y="19620696"/>
            <a:ext cx="13229622" cy="132343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cap="none" spc="0" dirty="0">
                <a:ln w="12700" cmpd="sng">
                  <a:solidFill>
                    <a:srgbClr val="C6DA08"/>
                  </a:solidFill>
                  <a:prstDash val="solid"/>
                </a:ln>
                <a:solidFill>
                  <a:srgbClr val="FFFF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User Level Progression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A98364-3921-7AAB-AE62-75300B0A2958}"/>
              </a:ext>
            </a:extLst>
          </p:cNvPr>
          <p:cNvSpPr txBox="1"/>
          <p:nvPr/>
        </p:nvSpPr>
        <p:spPr>
          <a:xfrm>
            <a:off x="22772727" y="10426375"/>
            <a:ext cx="6519891" cy="280076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3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3">
                  <a:lumMod val="20000"/>
                  <a:lumOff val="8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508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Displays user browsing stats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Security-focussed quizzes and challenges</a:t>
            </a:r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3C5E0-D02A-19A5-0FFD-528AACACE8A7}"/>
              </a:ext>
            </a:extLst>
          </p:cNvPr>
          <p:cNvSpPr txBox="1"/>
          <p:nvPr/>
        </p:nvSpPr>
        <p:spPr>
          <a:xfrm>
            <a:off x="22772727" y="14334801"/>
            <a:ext cx="6519891" cy="501675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3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3">
                  <a:lumMod val="20000"/>
                  <a:lumOff val="8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508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Rewards for secure behaviour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Penalises for risky behaviour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Based on behavioural conditioning principles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Teaches and reinforces safe browsing behaviour</a:t>
            </a: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06970B-65CC-1C67-C4D7-D20DD445F0B6}"/>
              </a:ext>
            </a:extLst>
          </p:cNvPr>
          <p:cNvSpPr txBox="1"/>
          <p:nvPr/>
        </p:nvSpPr>
        <p:spPr>
          <a:xfrm>
            <a:off x="22772729" y="2069570"/>
            <a:ext cx="6519891" cy="76944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Security</a:t>
            </a:r>
            <a:endParaRPr lang="en-US" sz="6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B9B8F7-936D-165A-96EC-9DDA0C766973}"/>
              </a:ext>
            </a:extLst>
          </p:cNvPr>
          <p:cNvSpPr txBox="1"/>
          <p:nvPr/>
        </p:nvSpPr>
        <p:spPr>
          <a:xfrm>
            <a:off x="22772727" y="2839011"/>
            <a:ext cx="6519891" cy="6494085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3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3">
                  <a:lumMod val="20000"/>
                  <a:lumOff val="8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508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Customisable URL Risk Score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Scanning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Disabled Search History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Cookie Deletion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Google OAUTH Sign In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Guest Browsing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Real-time Security Alerts &amp; Explanations</a:t>
            </a:r>
          </a:p>
          <a:p>
            <a:endParaRPr lang="en-GB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652AD3-CDBE-2076-06E1-062940F49C39}"/>
              </a:ext>
            </a:extLst>
          </p:cNvPr>
          <p:cNvSpPr/>
          <p:nvPr/>
        </p:nvSpPr>
        <p:spPr>
          <a:xfrm>
            <a:off x="1415868" y="17612980"/>
            <a:ext cx="19437190" cy="186204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AB5865-B787-3585-247D-05831192E1DA}"/>
              </a:ext>
            </a:extLst>
          </p:cNvPr>
          <p:cNvSpPr/>
          <p:nvPr/>
        </p:nvSpPr>
        <p:spPr>
          <a:xfrm>
            <a:off x="1674968" y="17956249"/>
            <a:ext cx="16766799" cy="117551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8ECB0-06C1-ADA6-D88D-5FBC18D0FD9F}"/>
              </a:ext>
            </a:extLst>
          </p:cNvPr>
          <p:cNvSpPr txBox="1"/>
          <p:nvPr/>
        </p:nvSpPr>
        <p:spPr>
          <a:xfrm>
            <a:off x="18882099" y="17956249"/>
            <a:ext cx="1530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dirty="0">
                <a:latin typeface="Arial" panose="020B0604020202020204" pitchFamily="34" charset="0"/>
                <a:cs typeface="Arial" panose="020B0604020202020204" pitchFamily="34" charset="0"/>
              </a:rPr>
              <a:t>XP</a:t>
            </a:r>
            <a:endParaRPr lang="en-GB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BA381E-68F7-6329-CAED-E50229084F9A}"/>
              </a:ext>
            </a:extLst>
          </p:cNvPr>
          <p:cNvSpPr/>
          <p:nvPr/>
        </p:nvSpPr>
        <p:spPr>
          <a:xfrm>
            <a:off x="12120990" y="6571672"/>
            <a:ext cx="7056783" cy="156920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Site or Download is warned against accessing</a:t>
            </a:r>
          </a:p>
        </p:txBody>
      </p:sp>
      <p:sp>
        <p:nvSpPr>
          <p:cNvPr id="23" name="Diamond 22">
            <a:extLst>
              <a:ext uri="{FF2B5EF4-FFF2-40B4-BE49-F238E27FC236}">
                <a16:creationId xmlns:a16="http://schemas.microsoft.com/office/drawing/2014/main" id="{9162A61A-D469-C403-F612-AA3AE96921BB}"/>
              </a:ext>
            </a:extLst>
          </p:cNvPr>
          <p:cNvSpPr/>
          <p:nvPr/>
        </p:nvSpPr>
        <p:spPr>
          <a:xfrm>
            <a:off x="11356052" y="9700868"/>
            <a:ext cx="4624350" cy="3928660"/>
          </a:xfrm>
          <a:prstGeom prst="diamond">
            <a:avLst/>
          </a:prstGeom>
          <a:solidFill>
            <a:schemeClr val="accent2">
              <a:lumMod val="20000"/>
              <a:lumOff val="80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the safe choice made?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E0F8F35-1BC7-3E83-BC5C-E5F8239D4885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13668227" y="8150087"/>
            <a:ext cx="0" cy="1550781"/>
          </a:xfrm>
          <a:prstGeom prst="straightConnector1">
            <a:avLst/>
          </a:prstGeom>
          <a:ln w="1270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AB8AD18-29FD-4E3E-4319-8760580C80D4}"/>
              </a:ext>
            </a:extLst>
          </p:cNvPr>
          <p:cNvCxnSpPr>
            <a:cxnSpLocks/>
          </p:cNvCxnSpPr>
          <p:nvPr/>
        </p:nvCxnSpPr>
        <p:spPr>
          <a:xfrm>
            <a:off x="11715098" y="12026348"/>
            <a:ext cx="0" cy="5586632"/>
          </a:xfrm>
          <a:prstGeom prst="straightConnector1">
            <a:avLst/>
          </a:prstGeom>
          <a:ln w="1270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AD93D66C-F0D9-CD4B-3D92-57BD1A2FEAC1}"/>
              </a:ext>
            </a:extLst>
          </p:cNvPr>
          <p:cNvSpPr/>
          <p:nvPr/>
        </p:nvSpPr>
        <p:spPr>
          <a:xfrm>
            <a:off x="14990858" y="13098180"/>
            <a:ext cx="6799481" cy="99992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B724D19-D7F4-EFE1-8405-B78452136877}"/>
              </a:ext>
            </a:extLst>
          </p:cNvPr>
          <p:cNvSpPr/>
          <p:nvPr/>
        </p:nvSpPr>
        <p:spPr>
          <a:xfrm>
            <a:off x="15133214" y="13245710"/>
            <a:ext cx="5540493" cy="684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ADF882-0E10-D609-B2CF-5F050FFB12BB}"/>
              </a:ext>
            </a:extLst>
          </p:cNvPr>
          <p:cNvSpPr txBox="1"/>
          <p:nvPr/>
        </p:nvSpPr>
        <p:spPr>
          <a:xfrm>
            <a:off x="20815548" y="13335735"/>
            <a:ext cx="7807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latin typeface="Arial" panose="020B0604020202020204" pitchFamily="34" charset="0"/>
                <a:cs typeface="Arial" panose="020B0604020202020204" pitchFamily="34" charset="0"/>
              </a:rPr>
              <a:t>XP</a:t>
            </a:r>
            <a:endParaRPr lang="en-GB" sz="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E405603-5685-F654-20FF-CE664D705690}"/>
              </a:ext>
            </a:extLst>
          </p:cNvPr>
          <p:cNvCxnSpPr>
            <a:cxnSpLocks/>
          </p:cNvCxnSpPr>
          <p:nvPr/>
        </p:nvCxnSpPr>
        <p:spPr>
          <a:xfrm>
            <a:off x="15933212" y="11704789"/>
            <a:ext cx="47190" cy="1467156"/>
          </a:xfrm>
          <a:prstGeom prst="straightConnector1">
            <a:avLst/>
          </a:prstGeom>
          <a:ln w="1270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D2BBD6BD-06AB-8E24-05D9-55DBB7D568CD}"/>
              </a:ext>
            </a:extLst>
          </p:cNvPr>
          <p:cNvSpPr txBox="1"/>
          <p:nvPr/>
        </p:nvSpPr>
        <p:spPr>
          <a:xfrm>
            <a:off x="11903029" y="15967380"/>
            <a:ext cx="539105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1" dirty="0">
                <a:solidFill>
                  <a:srgbClr val="92D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Behaviour</a:t>
            </a:r>
            <a:endParaRPr lang="en-GB" sz="1100" b="1" dirty="0">
              <a:solidFill>
                <a:srgbClr val="92D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F4234C-C298-DFBF-9616-A922F53B7192}"/>
              </a:ext>
            </a:extLst>
          </p:cNvPr>
          <p:cNvSpPr txBox="1"/>
          <p:nvPr/>
        </p:nvSpPr>
        <p:spPr>
          <a:xfrm>
            <a:off x="16115258" y="12071923"/>
            <a:ext cx="4282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Risky Behaviour</a:t>
            </a:r>
            <a:endParaRPr lang="en-GB" sz="1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019C46-C865-39FF-B34B-4608A39780D2}"/>
              </a:ext>
            </a:extLst>
          </p:cNvPr>
          <p:cNvSpPr txBox="1"/>
          <p:nvPr/>
        </p:nvSpPr>
        <p:spPr>
          <a:xfrm>
            <a:off x="10771979" y="4674665"/>
            <a:ext cx="9754804" cy="1569660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25000"/>
                  <a:lumOff val="75000"/>
                  <a:tint val="66000"/>
                  <a:satMod val="160000"/>
                </a:schemeClr>
              </a:gs>
              <a:gs pos="50000">
                <a:schemeClr val="tx2">
                  <a:lumMod val="25000"/>
                  <a:lumOff val="75000"/>
                  <a:tint val="44500"/>
                  <a:satMod val="160000"/>
                </a:schemeClr>
              </a:gs>
              <a:gs pos="100000">
                <a:schemeClr val="tx2">
                  <a:lumMod val="25000"/>
                  <a:lumOff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800" b="1" dirty="0">
                <a:latin typeface="Arial" panose="020B0604020202020204" pitchFamily="34" charset="0"/>
                <a:cs typeface="Arial" panose="020B0604020202020204" pitchFamily="34" charset="0"/>
              </a:rPr>
              <a:t>Behavioural Conditioning Process</a:t>
            </a: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9380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2580</TotalTime>
  <Words>152</Words>
  <Application>Microsoft Office PowerPoint</Application>
  <PresentationFormat>Custom</PresentationFormat>
  <Paragraphs>72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Mark Hardy</dc:creator>
  <cp:lastModifiedBy>(s) Mark Hardy</cp:lastModifiedBy>
  <cp:revision>9</cp:revision>
  <dcterms:created xsi:type="dcterms:W3CDTF">2026-03-10T16:05:27Z</dcterms:created>
  <dcterms:modified xsi:type="dcterms:W3CDTF">2026-04-20T10:13:16Z</dcterms:modified>
</cp:coreProperties>
</file>